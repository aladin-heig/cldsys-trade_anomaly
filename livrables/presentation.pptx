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nous présentons notre plateforme de détection d'anomalies dans les statistiques de commerce international, entièrement construite sur des services serverless AWS. (≈30 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compare systématiquement les deux déclarations d'un même flux commercial. Trois règles simples suffisent à repérer une anomalie, y compris quand un seul pays déclare le flux. (≈1 min)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flux indépendants : l'ingestion hebdomadaire qui calcule les écarts, la consultation du tableau de bord qui ne lit jamais que le résultat précalculé, et le rapport par IA déclenché au clic. Tout est managé : pas de serveur à administrer. (≈1 min 30)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Chaque service répond à un besoin précis, pas à un effet de mode : Lambda pour le calcul à la demande, DynamoDB pour la lecture rapide, Step Functions pour l'orchestration fiable du rapport, Cognito et API Gateway pour ne jamais payer une requête non autorisée, Bedrock pour l'IA sans clé à gérer. (≈1 min 30)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clic démarre tout de suite une exécution Step Functions nommée d'après la cellule : un second clic retrouve l'exécution en cours au lieu d'en relancer une. L'explication est rédigée par Claude à partir de l'historique et, si besoin, de pages Wikipédia, puis mise en PDF. L'interface sonde le statut toutes les 3 secondes jusqu'au lien de téléchargement. (≈2 min)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L'authentification sans état se prête bien au serverless : pas de session côté serveur, le jeton signé voyage avec chaque appel et il est vérifié avant même d'atteindre notre code. (≈1 min)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Cinq étapes suffisent, de la connexion au téléchargement. Le contenu du rapport reste explicite sur ses limites : il propose des pistes, pas une conclusion certaine. (≈1 min 30)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conclure : l'architecture reste volontairement simple et adaptée au volume réel du projet, avec des limites connues et documentées plutôt que cachées. Merci de votre attention, nous sommes prêts pour vos questions. (≈1 min)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32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D62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286000"/>
            <a:ext cx="9601200" cy="1463040"/>
          </a:xfrm>
          <a:prstGeom prst="rect">
            <a:avLst/>
          </a:prstGeom>
          <a:noFill/>
        </p:spPr>
        <p:txBody>
          <a:bodyPr wrap="square" anchor="t" lIns="0" rIns="0" tIns="0" bIns="0">
            <a:spAutoFit/>
          </a:bodyPr>
          <a:lstStyle/>
          <a:p>
            <a:pPr algn="l">
              <a:lnSpc>
                <a:spcPct val="105000"/>
              </a:lnSpc>
            </a:pPr>
            <a:r>
              <a:rPr sz="4000" b="1" i="0">
                <a:solidFill>
                  <a:srgbClr val="FFFFFF"/>
                </a:solidFill>
                <a:latin typeface="Calibri"/>
              </a:rPr>
              <a:t>Détection d'anomalies</a:t>
            </a:r>
          </a:p>
          <a:p>
            <a:pPr algn="l">
              <a:lnSpc>
                <a:spcPct val="105000"/>
              </a:lnSpc>
            </a:pPr>
            <a:r>
              <a:rPr sz="4000" b="1" i="0">
                <a:solidFill>
                  <a:srgbClr val="FFFFFF"/>
                </a:solidFill>
                <a:latin typeface="Calibri"/>
              </a:rPr>
              <a:t>dans les données de fret</a:t>
            </a:r>
          </a:p>
        </p:txBody>
      </p:sp>
      <p:sp>
        <p:nvSpPr>
          <p:cNvPr id="5" name="TextBox 4"/>
          <p:cNvSpPr txBox="1"/>
          <p:nvPr/>
        </p:nvSpPr>
        <p:spPr>
          <a:xfrm>
            <a:off x="868680" y="3657600"/>
            <a:ext cx="9601200" cy="640080"/>
          </a:xfrm>
          <a:prstGeom prst="rect">
            <a:avLst/>
          </a:prstGeom>
          <a:noFill/>
        </p:spPr>
        <p:txBody>
          <a:bodyPr wrap="square" anchor="t" lIns="0" rIns="0" tIns="0" bIns="0">
            <a:spAutoFit/>
          </a:bodyPr>
          <a:lstStyle/>
          <a:p>
            <a:pPr algn="l">
              <a:lnSpc>
                <a:spcPct val="108000"/>
              </a:lnSpc>
            </a:pPr>
            <a:r>
              <a:rPr sz="1700" b="0" i="0">
                <a:solidFill>
                  <a:srgbClr val="C9C9C2"/>
                </a:solidFill>
                <a:latin typeface="Calibri"/>
              </a:rPr>
              <a:t>Une plateforme serverless sur AWS, du chargement des données au rapport rédigé par IA</a:t>
            </a:r>
          </a:p>
        </p:txBody>
      </p:sp>
      <p:sp>
        <p:nvSpPr>
          <p:cNvPr id="6" name="TextBox 5"/>
          <p:cNvSpPr txBox="1"/>
          <p:nvPr/>
        </p:nvSpPr>
        <p:spPr>
          <a:xfrm>
            <a:off x="868680" y="5943600"/>
            <a:ext cx="9144000" cy="457200"/>
          </a:xfrm>
          <a:prstGeom prst="rect">
            <a:avLst/>
          </a:prstGeom>
          <a:noFill/>
        </p:spPr>
        <p:txBody>
          <a:bodyPr wrap="square" anchor="t" lIns="0" rIns="0" tIns="0" bIns="0">
            <a:spAutoFit/>
          </a:bodyPr>
          <a:lstStyle/>
          <a:p>
            <a:pPr algn="l">
              <a:lnSpc>
                <a:spcPct val="108000"/>
              </a:lnSpc>
            </a:pPr>
            <a:r>
              <a:rPr sz="1200" b="0" i="0">
                <a:solidFill>
                  <a:srgbClr val="9A9A92"/>
                </a:solidFill>
                <a:latin typeface="Calibri"/>
              </a:rPr>
              <a:t>HES-SO · CloudSys, projet 3 · groupe 16 — Iseni Aladin, Steiner Jeremiah, Nunez Tania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9144000" cy="640080"/>
          </a:xfrm>
          <a:prstGeom prst="rect">
            <a:avLst/>
          </a:prstGeom>
          <a:noFill/>
        </p:spPr>
        <p:txBody>
          <a:bodyPr wrap="square" anchor="t" lIns="0" rIns="0" tIns="0" bIns="0">
            <a:spAutoFit/>
          </a:bodyPr>
          <a:lstStyle/>
          <a:p>
            <a:pPr algn="l">
              <a:lnSpc>
                <a:spcPct val="108000"/>
              </a:lnSpc>
            </a:pPr>
            <a:r>
              <a:rPr sz="2600" b="1" i="0">
                <a:solidFill>
                  <a:srgbClr val="23241F"/>
                </a:solidFill>
                <a:latin typeface="Calibri"/>
              </a:rPr>
              <a:t>Le problème : des écarts invisibles entre deux déclarations</a:t>
            </a:r>
          </a:p>
        </p:txBody>
      </p:sp>
      <p:sp>
        <p:nvSpPr>
          <p:cNvPr id="4" name="Rectangle 3"/>
          <p:cNvSpPr/>
          <p:nvPr/>
        </p:nvSpPr>
        <p:spPr>
          <a:xfrm>
            <a:off x="640080" y="1143000"/>
            <a:ext cx="2926080" cy="45720"/>
          </a:xfrm>
          <a:prstGeom prst="rect">
            <a:avLst/>
          </a:prstGeom>
          <a:solidFill>
            <a:srgbClr val="D62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5760720" cy="4389120"/>
          </a:xfrm>
          <a:prstGeom prst="rect">
            <a:avLst/>
          </a:prstGeom>
          <a:noFill/>
        </p:spPr>
        <p:txBody>
          <a:bodyPr wrap="square" lIns="0" rIns="0" tIns="0" bIns="0">
            <a:spAutoFit/>
          </a:bodyPr>
          <a:lstStyle/>
          <a:p>
            <a:pPr>
              <a:lnSpc>
                <a:spcPct val="112000"/>
              </a:lnSpc>
              <a:spcAft>
                <a:spcPts val="1600"/>
              </a:spcAft>
            </a:pPr>
            <a:r>
              <a:rPr b="1" sz="1550">
                <a:solidFill>
                  <a:srgbClr val="D6286B"/>
                </a:solidFill>
                <a:latin typeface="Calibri"/>
              </a:rPr>
              <a:t>Le principe —  </a:t>
            </a:r>
            <a:r>
              <a:rPr sz="1550">
                <a:solidFill>
                  <a:srgbClr val="23241F"/>
                </a:solidFill>
                <a:latin typeface="Calibri"/>
              </a:rPr>
              <a:t>chaque exportation déclarée par un pays (prix FOB) a une contrepartie : l'importation déclarée par le partenaire (prix CIF).</a:t>
            </a:r>
          </a:p>
          <a:p>
            <a:pPr>
              <a:lnSpc>
                <a:spcPct val="112000"/>
              </a:lnSpc>
              <a:spcAft>
                <a:spcPts val="1600"/>
              </a:spcAft>
            </a:pPr>
            <a:r>
              <a:rPr b="1" sz="1550">
                <a:solidFill>
                  <a:srgbClr val="D6286B"/>
                </a:solidFill>
                <a:latin typeface="Calibri"/>
              </a:rPr>
              <a:t>L'anomalie —  </a:t>
            </a:r>
            <a:r>
              <a:rPr sz="1550">
                <a:solidFill>
                  <a:srgbClr val="23241F"/>
                </a:solidFill>
                <a:latin typeface="Calibri"/>
              </a:rPr>
              <a:t>le prix FOB dépasse le prix CIF, l'écart (CIF − FOB)/FOB dépasse 35 %, ou le flux n'est déclaré que par un seul des deux pays.</a:t>
            </a:r>
          </a:p>
          <a:p>
            <a:pPr>
              <a:lnSpc>
                <a:spcPct val="112000"/>
              </a:lnSpc>
              <a:spcAft>
                <a:spcPts val="1600"/>
              </a:spcAft>
            </a:pPr>
            <a:r>
              <a:rPr b="1" sz="1550">
                <a:solidFill>
                  <a:srgbClr val="D6286B"/>
                </a:solidFill>
                <a:latin typeface="Calibri"/>
              </a:rPr>
              <a:t>L'objectif —  </a:t>
            </a:r>
            <a:r>
              <a:rPr sz="1550">
                <a:solidFill>
                  <a:srgbClr val="23241F"/>
                </a:solidFill>
                <a:latin typeface="Calibri"/>
              </a:rPr>
              <a:t>repérer automatiquement ces écarts sur un grand nombre de pays et de produits, et donner une première explication exploitable sans enquête manuelle.</a:t>
            </a:r>
          </a:p>
        </p:txBody>
      </p:sp>
      <p:sp>
        <p:nvSpPr>
          <p:cNvPr id="6" name="Rounded Rectangle 5"/>
          <p:cNvSpPr/>
          <p:nvPr/>
        </p:nvSpPr>
        <p:spPr>
          <a:xfrm>
            <a:off x="6766560" y="1737360"/>
            <a:ext cx="4754880" cy="3931920"/>
          </a:xfrm>
          <a:prstGeom prst="roundRect">
            <a:avLst>
              <a:gd name="adj" fmla="val 6000"/>
            </a:avLst>
          </a:prstGeom>
          <a:solidFill>
            <a:srgbClr val="F6F6F2"/>
          </a:solidFill>
          <a:ln w="9525">
            <a:solidFill>
              <a:srgbClr val="DDDD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86600" y="2011680"/>
            <a:ext cx="4114800" cy="365760"/>
          </a:xfrm>
          <a:prstGeom prst="rect">
            <a:avLst/>
          </a:prstGeom>
          <a:noFill/>
        </p:spPr>
        <p:txBody>
          <a:bodyPr wrap="square" anchor="t" lIns="0" rIns="0" tIns="0" bIns="0">
            <a:spAutoFit/>
          </a:bodyPr>
          <a:lstStyle/>
          <a:p>
            <a:pPr algn="l">
              <a:lnSpc>
                <a:spcPct val="108000"/>
              </a:lnSpc>
            </a:pPr>
            <a:r>
              <a:rPr sz="1300" b="0" i="1">
                <a:solidFill>
                  <a:srgbClr val="5B5B55"/>
                </a:solidFill>
                <a:latin typeface="Calibri"/>
              </a:rPr>
              <a:t>Exemple : blé, Argentine → Angola</a:t>
            </a:r>
          </a:p>
        </p:txBody>
      </p:sp>
      <p:sp>
        <p:nvSpPr>
          <p:cNvPr id="8" name="Oval 7"/>
          <p:cNvSpPr/>
          <p:nvPr/>
        </p:nvSpPr>
        <p:spPr>
          <a:xfrm>
            <a:off x="7360920" y="2788920"/>
            <a:ext cx="822960" cy="822960"/>
          </a:xfrm>
          <a:prstGeom prst="ellipse">
            <a:avLst/>
          </a:prstGeom>
          <a:solidFill>
            <a:srgbClr val="2F6FB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rPr>
              <a:t>FOB</a:t>
            </a:r>
          </a:p>
        </p:txBody>
      </p:sp>
      <p:sp>
        <p:nvSpPr>
          <p:cNvPr id="9" name="TextBox 8"/>
          <p:cNvSpPr txBox="1"/>
          <p:nvPr/>
        </p:nvSpPr>
        <p:spPr>
          <a:xfrm>
            <a:off x="7086600" y="3703320"/>
            <a:ext cx="1463040" cy="457200"/>
          </a:xfrm>
          <a:prstGeom prst="rect">
            <a:avLst/>
          </a:prstGeom>
          <a:noFill/>
        </p:spPr>
        <p:txBody>
          <a:bodyPr wrap="square" anchor="t" lIns="0" rIns="0" tIns="0" bIns="0">
            <a:spAutoFit/>
          </a:bodyPr>
          <a:lstStyle/>
          <a:p>
            <a:pPr algn="ctr">
              <a:lnSpc>
                <a:spcPct val="108000"/>
              </a:lnSpc>
            </a:pPr>
            <a:r>
              <a:rPr sz="1300" b="1" i="0">
                <a:solidFill>
                  <a:srgbClr val="23241F"/>
                </a:solidFill>
                <a:latin typeface="Calibri"/>
              </a:rPr>
              <a:t>22 999 USD/t</a:t>
            </a:r>
          </a:p>
        </p:txBody>
      </p:sp>
      <p:sp>
        <p:nvSpPr>
          <p:cNvPr id="10" name="Oval 9"/>
          <p:cNvSpPr/>
          <p:nvPr/>
        </p:nvSpPr>
        <p:spPr>
          <a:xfrm>
            <a:off x="10104120" y="2788920"/>
            <a:ext cx="822960" cy="822960"/>
          </a:xfrm>
          <a:prstGeom prst="ellipse">
            <a:avLst/>
          </a:prstGeom>
          <a:solidFill>
            <a:srgbClr val="E883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rPr>
              <a:t>CIF</a:t>
            </a:r>
          </a:p>
        </p:txBody>
      </p:sp>
      <p:sp>
        <p:nvSpPr>
          <p:cNvPr id="11" name="TextBox 10"/>
          <p:cNvSpPr txBox="1"/>
          <p:nvPr/>
        </p:nvSpPr>
        <p:spPr>
          <a:xfrm>
            <a:off x="9738360" y="3703320"/>
            <a:ext cx="1463040" cy="457200"/>
          </a:xfrm>
          <a:prstGeom prst="rect">
            <a:avLst/>
          </a:prstGeom>
          <a:noFill/>
        </p:spPr>
        <p:txBody>
          <a:bodyPr wrap="square" anchor="t" lIns="0" rIns="0" tIns="0" bIns="0">
            <a:spAutoFit/>
          </a:bodyPr>
          <a:lstStyle/>
          <a:p>
            <a:pPr algn="ctr">
              <a:lnSpc>
                <a:spcPct val="108000"/>
              </a:lnSpc>
            </a:pPr>
            <a:r>
              <a:rPr sz="1300" b="1" i="0">
                <a:solidFill>
                  <a:srgbClr val="23241F"/>
                </a:solidFill>
                <a:latin typeface="Calibri"/>
              </a:rPr>
              <a:t>&gt; seuil 35 %</a:t>
            </a:r>
          </a:p>
        </p:txBody>
      </p:sp>
      <p:cxnSp>
        <p:nvCxnSpPr>
          <p:cNvPr id="12" name="Connector 11"/>
          <p:cNvCxnSpPr/>
          <p:nvPr/>
        </p:nvCxnSpPr>
        <p:spPr>
          <a:xfrm>
            <a:off x="8183880" y="3200400"/>
            <a:ext cx="1920240" cy="0"/>
          </a:xfrm>
          <a:prstGeom prst="bentConnector3">
            <a:avLst/>
          </a:prstGeom>
          <a:ln w="31750">
            <a:solidFill>
              <a:srgbClr val="D6286B"/>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086600" y="4480560"/>
            <a:ext cx="4114800" cy="1005840"/>
          </a:xfrm>
          <a:prstGeom prst="rect">
            <a:avLst/>
          </a:prstGeom>
          <a:noFill/>
        </p:spPr>
        <p:txBody>
          <a:bodyPr wrap="square" anchor="t" lIns="0" rIns="0" tIns="0" bIns="0">
            <a:spAutoFit/>
          </a:bodyPr>
          <a:lstStyle/>
          <a:p>
            <a:pPr algn="ctr">
              <a:lnSpc>
                <a:spcPct val="108000"/>
              </a:lnSpc>
            </a:pPr>
            <a:r>
              <a:rPr sz="1250" b="0" i="0">
                <a:solidFill>
                  <a:srgbClr val="5B5B55"/>
                </a:solidFill>
                <a:latin typeface="Calibri"/>
              </a:rPr>
              <a:t>→ écart signalé, cellule rouge dans le tableau de bord, un clic lance le rapport d'explication.</a:t>
            </a:r>
          </a:p>
        </p:txBody>
      </p:sp>
      <p:sp>
        <p:nvSpPr>
          <p:cNvPr id="14" name="TextBox 13"/>
          <p:cNvSpPr txBox="1"/>
          <p:nvPr/>
        </p:nvSpPr>
        <p:spPr>
          <a:xfrm>
            <a:off x="457200" y="6492240"/>
            <a:ext cx="7315200" cy="274320"/>
          </a:xfrm>
          <a:prstGeom prst="rect">
            <a:avLst/>
          </a:prstGeom>
          <a:noFill/>
        </p:spPr>
        <p:txBody>
          <a:bodyPr wrap="square" anchor="t" lIns="0" rIns="0" tIns="0" bIns="0">
            <a:spAutoFit/>
          </a:bodyPr>
          <a:lstStyle/>
          <a:p>
            <a:pPr algn="l">
              <a:lnSpc>
                <a:spcPct val="108000"/>
              </a:lnSpc>
            </a:pPr>
            <a:r>
              <a:rPr sz="900" b="0" i="0">
                <a:solidFill>
                  <a:srgbClr val="8A8A82"/>
                </a:solidFill>
                <a:latin typeface="Calibri"/>
              </a:rPr>
              <a:t>Contexte</a:t>
            </a:r>
          </a:p>
        </p:txBody>
      </p:sp>
      <p:sp>
        <p:nvSpPr>
          <p:cNvPr id="15" name="TextBox 14"/>
          <p:cNvSpPr txBox="1"/>
          <p:nvPr/>
        </p:nvSpPr>
        <p:spPr>
          <a:xfrm>
            <a:off x="11185855" y="6492240"/>
            <a:ext cx="640080" cy="274320"/>
          </a:xfrm>
          <a:prstGeom prst="rect">
            <a:avLst/>
          </a:prstGeom>
          <a:noFill/>
        </p:spPr>
        <p:txBody>
          <a:bodyPr wrap="square" anchor="t" lIns="0" rIns="0" tIns="0" bIns="0">
            <a:spAutoFit/>
          </a:bodyPr>
          <a:lstStyle/>
          <a:p>
            <a:pPr algn="r">
              <a:lnSpc>
                <a:spcPct val="108000"/>
              </a:lnSpc>
            </a:pPr>
            <a:r>
              <a:rPr sz="900" b="0" i="0">
                <a:solidFill>
                  <a:srgbClr val="8A8A82"/>
                </a:solidFill>
                <a:latin typeface="Calibri"/>
              </a:rPr>
              <a:t>2 / 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548640"/>
          </a:xfrm>
          <a:prstGeom prst="rect">
            <a:avLst/>
          </a:prstGeom>
          <a:noFill/>
        </p:spPr>
        <p:txBody>
          <a:bodyPr wrap="square" anchor="t" lIns="0" rIns="0" tIns="0" bIns="0">
            <a:spAutoFit/>
          </a:bodyPr>
          <a:lstStyle/>
          <a:p>
            <a:pPr algn="l">
              <a:lnSpc>
                <a:spcPct val="108000"/>
              </a:lnSpc>
            </a:pPr>
            <a:r>
              <a:rPr sz="2500" b="1" i="0">
                <a:solidFill>
                  <a:srgbClr val="23241F"/>
                </a:solidFill>
                <a:latin typeface="Calibri"/>
              </a:rPr>
              <a:t>Une architecture en trois flux serverless</a:t>
            </a:r>
          </a:p>
        </p:txBody>
      </p:sp>
      <p:sp>
        <p:nvSpPr>
          <p:cNvPr id="4" name="Rectangle 3"/>
          <p:cNvSpPr/>
          <p:nvPr/>
        </p:nvSpPr>
        <p:spPr>
          <a:xfrm>
            <a:off x="548640" y="914400"/>
            <a:ext cx="2926080" cy="45720"/>
          </a:xfrm>
          <a:prstGeom prst="rect">
            <a:avLst/>
          </a:prstGeom>
          <a:solidFill>
            <a:srgbClr val="D62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rchitecture_aws_fr.png"/>
          <p:cNvPicPr>
            <a:picLocks noChangeAspect="1"/>
          </p:cNvPicPr>
          <p:nvPr/>
        </p:nvPicPr>
        <p:blipFill>
          <a:blip r:embed="rId2"/>
          <a:stretch>
            <a:fillRect/>
          </a:stretch>
        </p:blipFill>
        <p:spPr>
          <a:xfrm>
            <a:off x="3909915" y="1051560"/>
            <a:ext cx="4341689" cy="5120640"/>
          </a:xfrm>
          <a:prstGeom prst="rect">
            <a:avLst/>
          </a:prstGeom>
        </p:spPr>
      </p:pic>
      <p:sp>
        <p:nvSpPr>
          <p:cNvPr id="6" name="TextBox 5"/>
          <p:cNvSpPr txBox="1"/>
          <p:nvPr/>
        </p:nvSpPr>
        <p:spPr>
          <a:xfrm>
            <a:off x="457200" y="6492240"/>
            <a:ext cx="7315200" cy="274320"/>
          </a:xfrm>
          <a:prstGeom prst="rect">
            <a:avLst/>
          </a:prstGeom>
          <a:noFill/>
        </p:spPr>
        <p:txBody>
          <a:bodyPr wrap="square" anchor="t" lIns="0" rIns="0" tIns="0" bIns="0">
            <a:spAutoFit/>
          </a:bodyPr>
          <a:lstStyle/>
          <a:p>
            <a:pPr algn="l">
              <a:lnSpc>
                <a:spcPct val="108000"/>
              </a:lnSpc>
            </a:pPr>
            <a:r>
              <a:rPr sz="900" b="0" i="0">
                <a:solidFill>
                  <a:srgbClr val="8A8A82"/>
                </a:solidFill>
                <a:latin typeface="Calibri"/>
              </a:rPr>
              <a:t>Architecture</a:t>
            </a:r>
          </a:p>
        </p:txBody>
      </p:sp>
      <p:sp>
        <p:nvSpPr>
          <p:cNvPr id="7" name="TextBox 6"/>
          <p:cNvSpPr txBox="1"/>
          <p:nvPr/>
        </p:nvSpPr>
        <p:spPr>
          <a:xfrm>
            <a:off x="11185855" y="6492240"/>
            <a:ext cx="640080" cy="274320"/>
          </a:xfrm>
          <a:prstGeom prst="rect">
            <a:avLst/>
          </a:prstGeom>
          <a:noFill/>
        </p:spPr>
        <p:txBody>
          <a:bodyPr wrap="square" anchor="t" lIns="0" rIns="0" tIns="0" bIns="0">
            <a:spAutoFit/>
          </a:bodyPr>
          <a:lstStyle/>
          <a:p>
            <a:pPr algn="r">
              <a:lnSpc>
                <a:spcPct val="108000"/>
              </a:lnSpc>
            </a:pPr>
            <a:r>
              <a:rPr sz="900" b="0" i="0">
                <a:solidFill>
                  <a:srgbClr val="8A8A82"/>
                </a:solidFill>
                <a:latin typeface="Calibri"/>
              </a:rPr>
              <a:t>3 / 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515600" cy="640080"/>
          </a:xfrm>
          <a:prstGeom prst="rect">
            <a:avLst/>
          </a:prstGeom>
          <a:noFill/>
        </p:spPr>
        <p:txBody>
          <a:bodyPr wrap="square" anchor="t" lIns="0" rIns="0" tIns="0" bIns="0">
            <a:spAutoFit/>
          </a:bodyPr>
          <a:lstStyle/>
          <a:p>
            <a:pPr algn="l">
              <a:lnSpc>
                <a:spcPct val="108000"/>
              </a:lnSpc>
            </a:pPr>
            <a:r>
              <a:rPr sz="2600" b="1" i="0">
                <a:solidFill>
                  <a:srgbClr val="23241F"/>
                </a:solidFill>
                <a:latin typeface="Calibri"/>
              </a:rPr>
              <a:t>Pourquoi entièrement serverless ?</a:t>
            </a:r>
          </a:p>
        </p:txBody>
      </p:sp>
      <p:sp>
        <p:nvSpPr>
          <p:cNvPr id="4" name="Rectangle 3"/>
          <p:cNvSpPr/>
          <p:nvPr/>
        </p:nvSpPr>
        <p:spPr>
          <a:xfrm>
            <a:off x="640080" y="1143000"/>
            <a:ext cx="2926080" cy="45720"/>
          </a:xfrm>
          <a:prstGeom prst="rect">
            <a:avLst/>
          </a:prstGeom>
          <a:solidFill>
            <a:srgbClr val="D62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17320"/>
            <a:ext cx="10515600" cy="731520"/>
          </a:xfrm>
          <a:prstGeom prst="rect">
            <a:avLst/>
          </a:prstGeom>
          <a:noFill/>
        </p:spPr>
        <p:txBody>
          <a:bodyPr wrap="square" anchor="t" lIns="0" rIns="0" tIns="0" bIns="0">
            <a:spAutoFit/>
          </a:bodyPr>
          <a:lstStyle/>
          <a:p>
            <a:pPr algn="l">
              <a:lnSpc>
                <a:spcPct val="108000"/>
              </a:lnSpc>
            </a:pPr>
            <a:r>
              <a:rPr sz="1450" b="0" i="1">
                <a:solidFill>
                  <a:srgbClr val="5B5B55"/>
                </a:solidFill>
                <a:latin typeface="Calibri"/>
              </a:rPr>
              <a:t>La charge est faible et irrégulière : les données changent une fois par semaine, le tableau de bord est consulté ponctuellement, un rapport n'est généré qu'au clic.</a:t>
            </a:r>
          </a:p>
        </p:txBody>
      </p:sp>
      <p:sp>
        <p:nvSpPr>
          <p:cNvPr id="6" name="Rounded Rectangle 5"/>
          <p:cNvSpPr/>
          <p:nvPr/>
        </p:nvSpPr>
        <p:spPr>
          <a:xfrm>
            <a:off x="640080" y="2377440"/>
            <a:ext cx="3611880" cy="1737360"/>
          </a:xfrm>
          <a:prstGeom prst="roundRect">
            <a:avLst>
              <a:gd name="adj" fmla="val 8000"/>
            </a:avLst>
          </a:prstGeom>
          <a:solidFill>
            <a:srgbClr val="F6F6F2"/>
          </a:solidFill>
          <a:ln w="9525">
            <a:solidFill>
              <a:srgbClr val="DDDD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95528" y="2532888"/>
            <a:ext cx="457200" cy="457200"/>
          </a:xfrm>
          <a:prstGeom prst="ellipse">
            <a:avLst/>
          </a:prstGeom>
          <a:solidFill>
            <a:srgbClr val="E883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rPr>
              <a:t/>
            </a:r>
          </a:p>
        </p:txBody>
      </p:sp>
      <p:sp>
        <p:nvSpPr>
          <p:cNvPr id="8" name="TextBox 7"/>
          <p:cNvSpPr txBox="1"/>
          <p:nvPr/>
        </p:nvSpPr>
        <p:spPr>
          <a:xfrm>
            <a:off x="1371600" y="2542032"/>
            <a:ext cx="2697480" cy="457200"/>
          </a:xfrm>
          <a:prstGeom prst="rect">
            <a:avLst/>
          </a:prstGeom>
          <a:noFill/>
        </p:spPr>
        <p:txBody>
          <a:bodyPr wrap="square" anchor="t" lIns="0" rIns="0" tIns="0" bIns="0">
            <a:spAutoFit/>
          </a:bodyPr>
          <a:lstStyle/>
          <a:p>
            <a:pPr algn="l">
              <a:lnSpc>
                <a:spcPct val="108000"/>
              </a:lnSpc>
            </a:pPr>
            <a:r>
              <a:rPr sz="1450" b="1" i="0">
                <a:solidFill>
                  <a:srgbClr val="23241F"/>
                </a:solidFill>
                <a:latin typeface="Calibri"/>
              </a:rPr>
              <a:t>AWS Lambda</a:t>
            </a:r>
          </a:p>
        </p:txBody>
      </p:sp>
      <p:sp>
        <p:nvSpPr>
          <p:cNvPr id="9" name="TextBox 8"/>
          <p:cNvSpPr txBox="1"/>
          <p:nvPr/>
        </p:nvSpPr>
        <p:spPr>
          <a:xfrm>
            <a:off x="868680" y="3090672"/>
            <a:ext cx="3154680" cy="914400"/>
          </a:xfrm>
          <a:prstGeom prst="rect">
            <a:avLst/>
          </a:prstGeom>
          <a:noFill/>
        </p:spPr>
        <p:txBody>
          <a:bodyPr wrap="square" anchor="t" lIns="0" rIns="0" tIns="0" bIns="0">
            <a:spAutoFit/>
          </a:bodyPr>
          <a:lstStyle/>
          <a:p>
            <a:pPr algn="l">
              <a:lnSpc>
                <a:spcPct val="108000"/>
              </a:lnSpc>
            </a:pPr>
            <a:r>
              <a:rPr sz="1100" b="0" i="0">
                <a:solidFill>
                  <a:srgbClr val="5B5B55"/>
                </a:solidFill>
                <a:latin typeface="Calibri"/>
              </a:rPr>
              <a:t>Calcul à la demande : ingestion, API, rédaction du rapport — jamais de serveur allumé pour rien.</a:t>
            </a:r>
          </a:p>
        </p:txBody>
      </p:sp>
      <p:sp>
        <p:nvSpPr>
          <p:cNvPr id="10" name="Rounded Rectangle 9"/>
          <p:cNvSpPr/>
          <p:nvPr/>
        </p:nvSpPr>
        <p:spPr>
          <a:xfrm>
            <a:off x="4416552" y="2377440"/>
            <a:ext cx="3611880" cy="1737360"/>
          </a:xfrm>
          <a:prstGeom prst="roundRect">
            <a:avLst>
              <a:gd name="adj" fmla="val 8000"/>
            </a:avLst>
          </a:prstGeom>
          <a:solidFill>
            <a:srgbClr val="F6F6F2"/>
          </a:solidFill>
          <a:ln w="9525">
            <a:solidFill>
              <a:srgbClr val="DDDD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72000" y="2532888"/>
            <a:ext cx="457200" cy="457200"/>
          </a:xfrm>
          <a:prstGeom prst="ellipse">
            <a:avLst/>
          </a:prstGeom>
          <a:solidFill>
            <a:srgbClr val="7A52D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rPr>
              <a:t/>
            </a:r>
          </a:p>
        </p:txBody>
      </p:sp>
      <p:sp>
        <p:nvSpPr>
          <p:cNvPr id="12" name="TextBox 11"/>
          <p:cNvSpPr txBox="1"/>
          <p:nvPr/>
        </p:nvSpPr>
        <p:spPr>
          <a:xfrm>
            <a:off x="5148072" y="2542032"/>
            <a:ext cx="2697480" cy="457200"/>
          </a:xfrm>
          <a:prstGeom prst="rect">
            <a:avLst/>
          </a:prstGeom>
          <a:noFill/>
        </p:spPr>
        <p:txBody>
          <a:bodyPr wrap="square" anchor="t" lIns="0" rIns="0" tIns="0" bIns="0">
            <a:spAutoFit/>
          </a:bodyPr>
          <a:lstStyle/>
          <a:p>
            <a:pPr algn="l">
              <a:lnSpc>
                <a:spcPct val="108000"/>
              </a:lnSpc>
            </a:pPr>
            <a:r>
              <a:rPr sz="1450" b="1" i="0">
                <a:solidFill>
                  <a:srgbClr val="23241F"/>
                </a:solidFill>
                <a:latin typeface="Calibri"/>
              </a:rPr>
              <a:t>DynamoDB</a:t>
            </a:r>
          </a:p>
        </p:txBody>
      </p:sp>
      <p:sp>
        <p:nvSpPr>
          <p:cNvPr id="13" name="TextBox 12"/>
          <p:cNvSpPr txBox="1"/>
          <p:nvPr/>
        </p:nvSpPr>
        <p:spPr>
          <a:xfrm>
            <a:off x="4645152" y="3090672"/>
            <a:ext cx="3154680" cy="914400"/>
          </a:xfrm>
          <a:prstGeom prst="rect">
            <a:avLst/>
          </a:prstGeom>
          <a:noFill/>
        </p:spPr>
        <p:txBody>
          <a:bodyPr wrap="square" anchor="t" lIns="0" rIns="0" tIns="0" bIns="0">
            <a:spAutoFit/>
          </a:bodyPr>
          <a:lstStyle/>
          <a:p>
            <a:pPr algn="l">
              <a:lnSpc>
                <a:spcPct val="108000"/>
              </a:lnSpc>
            </a:pPr>
            <a:r>
              <a:rPr sz="1100" b="0" i="0">
                <a:solidFill>
                  <a:srgbClr val="5B5B55"/>
                </a:solidFill>
                <a:latin typeface="Calibri"/>
              </a:rPr>
              <a:t>Sert la heatmap en quelques ms, facturé à l'usage (PAY_PER_REQUEST).</a:t>
            </a:r>
          </a:p>
        </p:txBody>
      </p:sp>
      <p:sp>
        <p:nvSpPr>
          <p:cNvPr id="14" name="Rounded Rectangle 13"/>
          <p:cNvSpPr/>
          <p:nvPr/>
        </p:nvSpPr>
        <p:spPr>
          <a:xfrm>
            <a:off x="8193024" y="2377440"/>
            <a:ext cx="3611880" cy="1737360"/>
          </a:xfrm>
          <a:prstGeom prst="roundRect">
            <a:avLst>
              <a:gd name="adj" fmla="val 8000"/>
            </a:avLst>
          </a:prstGeom>
          <a:solidFill>
            <a:srgbClr val="F6F6F2"/>
          </a:solidFill>
          <a:ln w="9525">
            <a:solidFill>
              <a:srgbClr val="DDDD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348472" y="2532888"/>
            <a:ext cx="457200" cy="457200"/>
          </a:xfrm>
          <a:prstGeom prst="ellipse">
            <a:avLst/>
          </a:prstGeom>
          <a:solidFill>
            <a:srgbClr val="D628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rPr>
              <a:t/>
            </a:r>
          </a:p>
        </p:txBody>
      </p:sp>
      <p:sp>
        <p:nvSpPr>
          <p:cNvPr id="16" name="TextBox 15"/>
          <p:cNvSpPr txBox="1"/>
          <p:nvPr/>
        </p:nvSpPr>
        <p:spPr>
          <a:xfrm>
            <a:off x="8924544" y="2542032"/>
            <a:ext cx="2697480" cy="457200"/>
          </a:xfrm>
          <a:prstGeom prst="rect">
            <a:avLst/>
          </a:prstGeom>
          <a:noFill/>
        </p:spPr>
        <p:txBody>
          <a:bodyPr wrap="square" anchor="t" lIns="0" rIns="0" tIns="0" bIns="0">
            <a:spAutoFit/>
          </a:bodyPr>
          <a:lstStyle/>
          <a:p>
            <a:pPr algn="l">
              <a:lnSpc>
                <a:spcPct val="108000"/>
              </a:lnSpc>
            </a:pPr>
            <a:r>
              <a:rPr sz="1450" b="1" i="0">
                <a:solidFill>
                  <a:srgbClr val="23241F"/>
                </a:solidFill>
                <a:latin typeface="Calibri"/>
              </a:rPr>
              <a:t>Step Functions</a:t>
            </a:r>
          </a:p>
        </p:txBody>
      </p:sp>
      <p:sp>
        <p:nvSpPr>
          <p:cNvPr id="17" name="TextBox 16"/>
          <p:cNvSpPr txBox="1"/>
          <p:nvPr/>
        </p:nvSpPr>
        <p:spPr>
          <a:xfrm>
            <a:off x="8421624" y="3090672"/>
            <a:ext cx="3154680" cy="914400"/>
          </a:xfrm>
          <a:prstGeom prst="rect">
            <a:avLst/>
          </a:prstGeom>
          <a:noFill/>
        </p:spPr>
        <p:txBody>
          <a:bodyPr wrap="square" anchor="t" lIns="0" rIns="0" tIns="0" bIns="0">
            <a:spAutoFit/>
          </a:bodyPr>
          <a:lstStyle/>
          <a:p>
            <a:pPr algn="l">
              <a:lnSpc>
                <a:spcPct val="108000"/>
              </a:lnSpc>
            </a:pPr>
            <a:r>
              <a:rPr sz="1100" b="0" i="0">
                <a:solidFill>
                  <a:srgbClr val="5B5B55"/>
                </a:solidFill>
                <a:latin typeface="Calibri"/>
              </a:rPr>
              <a:t>Orchestre le rapport en 2 étapes, avec reprise automatique et exécution idempotente.</a:t>
            </a:r>
          </a:p>
        </p:txBody>
      </p:sp>
      <p:sp>
        <p:nvSpPr>
          <p:cNvPr id="18" name="Rounded Rectangle 17"/>
          <p:cNvSpPr/>
          <p:nvPr/>
        </p:nvSpPr>
        <p:spPr>
          <a:xfrm>
            <a:off x="640080" y="4297680"/>
            <a:ext cx="3611880" cy="1737360"/>
          </a:xfrm>
          <a:prstGeom prst="roundRect">
            <a:avLst>
              <a:gd name="adj" fmla="val 8000"/>
            </a:avLst>
          </a:prstGeom>
          <a:solidFill>
            <a:srgbClr val="F6F6F2"/>
          </a:solidFill>
          <a:ln w="9525">
            <a:solidFill>
              <a:srgbClr val="DDDD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95528" y="4453128"/>
            <a:ext cx="457200" cy="457200"/>
          </a:xfrm>
          <a:prstGeom prst="ellipse">
            <a:avLst/>
          </a:prstGeom>
          <a:solidFill>
            <a:srgbClr val="1E9E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rPr>
              <a:t/>
            </a:r>
          </a:p>
        </p:txBody>
      </p:sp>
      <p:sp>
        <p:nvSpPr>
          <p:cNvPr id="20" name="TextBox 19"/>
          <p:cNvSpPr txBox="1"/>
          <p:nvPr/>
        </p:nvSpPr>
        <p:spPr>
          <a:xfrm>
            <a:off x="1371600" y="4462272"/>
            <a:ext cx="2697480" cy="457200"/>
          </a:xfrm>
          <a:prstGeom prst="rect">
            <a:avLst/>
          </a:prstGeom>
          <a:noFill/>
        </p:spPr>
        <p:txBody>
          <a:bodyPr wrap="square" anchor="t" lIns="0" rIns="0" tIns="0" bIns="0">
            <a:spAutoFit/>
          </a:bodyPr>
          <a:lstStyle/>
          <a:p>
            <a:pPr algn="l">
              <a:lnSpc>
                <a:spcPct val="108000"/>
              </a:lnSpc>
            </a:pPr>
            <a:r>
              <a:rPr sz="1450" b="1" i="0">
                <a:solidFill>
                  <a:srgbClr val="23241F"/>
                </a:solidFill>
                <a:latin typeface="Calibri"/>
              </a:rPr>
              <a:t>API Gateway + Cognito</a:t>
            </a:r>
          </a:p>
        </p:txBody>
      </p:sp>
      <p:sp>
        <p:nvSpPr>
          <p:cNvPr id="21" name="TextBox 20"/>
          <p:cNvSpPr txBox="1"/>
          <p:nvPr/>
        </p:nvSpPr>
        <p:spPr>
          <a:xfrm>
            <a:off x="868680" y="5010912"/>
            <a:ext cx="3154680" cy="914400"/>
          </a:xfrm>
          <a:prstGeom prst="rect">
            <a:avLst/>
          </a:prstGeom>
          <a:noFill/>
        </p:spPr>
        <p:txBody>
          <a:bodyPr wrap="square" anchor="t" lIns="0" rIns="0" tIns="0" bIns="0">
            <a:spAutoFit/>
          </a:bodyPr>
          <a:lstStyle/>
          <a:p>
            <a:pPr algn="l">
              <a:lnSpc>
                <a:spcPct val="108000"/>
              </a:lnSpc>
            </a:pPr>
            <a:r>
              <a:rPr sz="1100" b="0" i="0">
                <a:solidFill>
                  <a:srgbClr val="5B5B55"/>
                </a:solidFill>
                <a:latin typeface="Calibri"/>
              </a:rPr>
              <a:t>Jeton JWT vérifié avant toute invocation : une requête refusée ne coûte rien.</a:t>
            </a:r>
          </a:p>
        </p:txBody>
      </p:sp>
      <p:sp>
        <p:nvSpPr>
          <p:cNvPr id="22" name="Rounded Rectangle 21"/>
          <p:cNvSpPr/>
          <p:nvPr/>
        </p:nvSpPr>
        <p:spPr>
          <a:xfrm>
            <a:off x="4416552" y="4297680"/>
            <a:ext cx="3611880" cy="1737360"/>
          </a:xfrm>
          <a:prstGeom prst="roundRect">
            <a:avLst>
              <a:gd name="adj" fmla="val 8000"/>
            </a:avLst>
          </a:prstGeom>
          <a:solidFill>
            <a:srgbClr val="F6F6F2"/>
          </a:solidFill>
          <a:ln w="9525">
            <a:solidFill>
              <a:srgbClr val="DDDD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572000" y="4453128"/>
            <a:ext cx="457200" cy="457200"/>
          </a:xfrm>
          <a:prstGeom prst="ellipse">
            <a:avLst/>
          </a:prstGeom>
          <a:solidFill>
            <a:srgbClr val="2F6FB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rPr>
              <a:t/>
            </a:r>
          </a:p>
        </p:txBody>
      </p:sp>
      <p:sp>
        <p:nvSpPr>
          <p:cNvPr id="24" name="TextBox 23"/>
          <p:cNvSpPr txBox="1"/>
          <p:nvPr/>
        </p:nvSpPr>
        <p:spPr>
          <a:xfrm>
            <a:off x="5148072" y="4462272"/>
            <a:ext cx="2697480" cy="457200"/>
          </a:xfrm>
          <a:prstGeom prst="rect">
            <a:avLst/>
          </a:prstGeom>
          <a:noFill/>
        </p:spPr>
        <p:txBody>
          <a:bodyPr wrap="square" anchor="t" lIns="0" rIns="0" tIns="0" bIns="0">
            <a:spAutoFit/>
          </a:bodyPr>
          <a:lstStyle/>
          <a:p>
            <a:pPr algn="l">
              <a:lnSpc>
                <a:spcPct val="108000"/>
              </a:lnSpc>
            </a:pPr>
            <a:r>
              <a:rPr sz="1450" b="1" i="0">
                <a:solidFill>
                  <a:srgbClr val="23241F"/>
                </a:solidFill>
                <a:latin typeface="Calibri"/>
              </a:rPr>
              <a:t>Amazon Bedrock</a:t>
            </a:r>
          </a:p>
        </p:txBody>
      </p:sp>
      <p:sp>
        <p:nvSpPr>
          <p:cNvPr id="25" name="TextBox 24"/>
          <p:cNvSpPr txBox="1"/>
          <p:nvPr/>
        </p:nvSpPr>
        <p:spPr>
          <a:xfrm>
            <a:off x="4645152" y="5010912"/>
            <a:ext cx="3154680" cy="914400"/>
          </a:xfrm>
          <a:prstGeom prst="rect">
            <a:avLst/>
          </a:prstGeom>
          <a:noFill/>
        </p:spPr>
        <p:txBody>
          <a:bodyPr wrap="square" anchor="t" lIns="0" rIns="0" tIns="0" bIns="0">
            <a:spAutoFit/>
          </a:bodyPr>
          <a:lstStyle/>
          <a:p>
            <a:pPr algn="l">
              <a:lnSpc>
                <a:spcPct val="108000"/>
              </a:lnSpc>
            </a:pPr>
            <a:r>
              <a:rPr sz="1100" b="0" i="0">
                <a:solidFill>
                  <a:srgbClr val="5B5B55"/>
                </a:solidFill>
                <a:latin typeface="Calibri"/>
              </a:rPr>
              <a:t>Claude Haiku 5.5 rédige l'explication ; accès par rôle IAM, sans clé à gérer.</a:t>
            </a:r>
          </a:p>
        </p:txBody>
      </p:sp>
      <p:sp>
        <p:nvSpPr>
          <p:cNvPr id="26" name="Rounded Rectangle 25"/>
          <p:cNvSpPr/>
          <p:nvPr/>
        </p:nvSpPr>
        <p:spPr>
          <a:xfrm>
            <a:off x="8193024" y="4297680"/>
            <a:ext cx="3611880" cy="1737360"/>
          </a:xfrm>
          <a:prstGeom prst="roundRect">
            <a:avLst>
              <a:gd name="adj" fmla="val 8000"/>
            </a:avLst>
          </a:prstGeom>
          <a:solidFill>
            <a:srgbClr val="F6F6F2"/>
          </a:solidFill>
          <a:ln w="9525">
            <a:solidFill>
              <a:srgbClr val="DDDD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348472" y="4453128"/>
            <a:ext cx="457200" cy="457200"/>
          </a:xfrm>
          <a:prstGeom prst="ellipse">
            <a:avLst/>
          </a:prstGeom>
          <a:solidFill>
            <a:srgbClr val="6B9B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rPr>
              <a:t/>
            </a:r>
          </a:p>
        </p:txBody>
      </p:sp>
      <p:sp>
        <p:nvSpPr>
          <p:cNvPr id="28" name="TextBox 27"/>
          <p:cNvSpPr txBox="1"/>
          <p:nvPr/>
        </p:nvSpPr>
        <p:spPr>
          <a:xfrm>
            <a:off x="8924544" y="4462272"/>
            <a:ext cx="2697480" cy="457200"/>
          </a:xfrm>
          <a:prstGeom prst="rect">
            <a:avLst/>
          </a:prstGeom>
          <a:noFill/>
        </p:spPr>
        <p:txBody>
          <a:bodyPr wrap="square" anchor="t" lIns="0" rIns="0" tIns="0" bIns="0">
            <a:spAutoFit/>
          </a:bodyPr>
          <a:lstStyle/>
          <a:p>
            <a:pPr algn="l">
              <a:lnSpc>
                <a:spcPct val="108000"/>
              </a:lnSpc>
            </a:pPr>
            <a:r>
              <a:rPr sz="1450" b="1" i="0">
                <a:solidFill>
                  <a:srgbClr val="23241F"/>
                </a:solidFill>
                <a:latin typeface="Calibri"/>
              </a:rPr>
              <a:t>Amplify Hosting</a:t>
            </a:r>
          </a:p>
        </p:txBody>
      </p:sp>
      <p:sp>
        <p:nvSpPr>
          <p:cNvPr id="29" name="TextBox 28"/>
          <p:cNvSpPr txBox="1"/>
          <p:nvPr/>
        </p:nvSpPr>
        <p:spPr>
          <a:xfrm>
            <a:off x="8421624" y="5010912"/>
            <a:ext cx="3154680" cy="914400"/>
          </a:xfrm>
          <a:prstGeom prst="rect">
            <a:avLst/>
          </a:prstGeom>
          <a:noFill/>
        </p:spPr>
        <p:txBody>
          <a:bodyPr wrap="square" anchor="t" lIns="0" rIns="0" tIns="0" bIns="0">
            <a:spAutoFit/>
          </a:bodyPr>
          <a:lstStyle/>
          <a:p>
            <a:pPr algn="l">
              <a:lnSpc>
                <a:spcPct val="108000"/>
              </a:lnSpc>
            </a:pPr>
            <a:r>
              <a:rPr sz="1100" b="0" i="0">
                <a:solidFill>
                  <a:srgbClr val="5B5B55"/>
                </a:solidFill>
                <a:latin typeface="Calibri"/>
              </a:rPr>
              <a:t>Dashboard déployé automatiquement à chaque push GitHub.</a:t>
            </a:r>
          </a:p>
        </p:txBody>
      </p:sp>
      <p:sp>
        <p:nvSpPr>
          <p:cNvPr id="30" name="TextBox 29"/>
          <p:cNvSpPr txBox="1"/>
          <p:nvPr/>
        </p:nvSpPr>
        <p:spPr>
          <a:xfrm>
            <a:off x="457200" y="6492240"/>
            <a:ext cx="7315200" cy="274320"/>
          </a:xfrm>
          <a:prstGeom prst="rect">
            <a:avLst/>
          </a:prstGeom>
          <a:noFill/>
        </p:spPr>
        <p:txBody>
          <a:bodyPr wrap="square" anchor="t" lIns="0" rIns="0" tIns="0" bIns="0">
            <a:spAutoFit/>
          </a:bodyPr>
          <a:lstStyle/>
          <a:p>
            <a:pPr algn="l">
              <a:lnSpc>
                <a:spcPct val="108000"/>
              </a:lnSpc>
            </a:pPr>
            <a:r>
              <a:rPr sz="900" b="0" i="0">
                <a:solidFill>
                  <a:srgbClr val="8A8A82"/>
                </a:solidFill>
                <a:latin typeface="Calibri"/>
              </a:rPr>
              <a:t>Raisonnement</a:t>
            </a:r>
          </a:p>
        </p:txBody>
      </p:sp>
      <p:sp>
        <p:nvSpPr>
          <p:cNvPr id="31" name="TextBox 30"/>
          <p:cNvSpPr txBox="1"/>
          <p:nvPr/>
        </p:nvSpPr>
        <p:spPr>
          <a:xfrm>
            <a:off x="11185855" y="6492240"/>
            <a:ext cx="640080" cy="274320"/>
          </a:xfrm>
          <a:prstGeom prst="rect">
            <a:avLst/>
          </a:prstGeom>
          <a:noFill/>
        </p:spPr>
        <p:txBody>
          <a:bodyPr wrap="square" anchor="t" lIns="0" rIns="0" tIns="0" bIns="0">
            <a:spAutoFit/>
          </a:bodyPr>
          <a:lstStyle/>
          <a:p>
            <a:pPr algn="r">
              <a:lnSpc>
                <a:spcPct val="108000"/>
              </a:lnSpc>
            </a:pPr>
            <a:r>
              <a:rPr sz="900" b="0" i="0">
                <a:solidFill>
                  <a:srgbClr val="8A8A82"/>
                </a:solidFill>
                <a:latin typeface="Calibri"/>
              </a:rPr>
              <a:t>4 / 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058400" cy="548640"/>
          </a:xfrm>
          <a:prstGeom prst="rect">
            <a:avLst/>
          </a:prstGeom>
          <a:noFill/>
        </p:spPr>
        <p:txBody>
          <a:bodyPr wrap="square" anchor="t" lIns="0" rIns="0" tIns="0" bIns="0">
            <a:spAutoFit/>
          </a:bodyPr>
          <a:lstStyle/>
          <a:p>
            <a:pPr algn="l">
              <a:lnSpc>
                <a:spcPct val="108000"/>
              </a:lnSpc>
            </a:pPr>
            <a:r>
              <a:rPr sz="2400" b="1" i="0">
                <a:solidFill>
                  <a:srgbClr val="23241F"/>
                </a:solidFill>
                <a:latin typeface="Calibri"/>
              </a:rPr>
              <a:t>Du clic sur une cellule rouge au rapport PDF</a:t>
            </a:r>
          </a:p>
        </p:txBody>
      </p:sp>
      <p:sp>
        <p:nvSpPr>
          <p:cNvPr id="4" name="Rectangle 3"/>
          <p:cNvSpPr/>
          <p:nvPr/>
        </p:nvSpPr>
        <p:spPr>
          <a:xfrm>
            <a:off x="548640" y="868680"/>
            <a:ext cx="2926080" cy="45720"/>
          </a:xfrm>
          <a:prstGeom prst="rect">
            <a:avLst/>
          </a:prstGeom>
          <a:solidFill>
            <a:srgbClr val="D62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workflow-clic-cellule-rouge.png"/>
          <p:cNvPicPr>
            <a:picLocks noChangeAspect="1"/>
          </p:cNvPicPr>
          <p:nvPr/>
        </p:nvPicPr>
        <p:blipFill>
          <a:blip r:embed="rId2"/>
          <a:stretch>
            <a:fillRect/>
          </a:stretch>
        </p:blipFill>
        <p:spPr>
          <a:xfrm>
            <a:off x="4115839" y="1005840"/>
            <a:ext cx="3929841" cy="5577840"/>
          </a:xfrm>
          <a:prstGeom prst="rect">
            <a:avLst/>
          </a:prstGeom>
        </p:spPr>
      </p:pic>
      <p:sp>
        <p:nvSpPr>
          <p:cNvPr id="6" name="TextBox 5"/>
          <p:cNvSpPr txBox="1"/>
          <p:nvPr/>
        </p:nvSpPr>
        <p:spPr>
          <a:xfrm>
            <a:off x="457200" y="6492240"/>
            <a:ext cx="7315200" cy="274320"/>
          </a:xfrm>
          <a:prstGeom prst="rect">
            <a:avLst/>
          </a:prstGeom>
          <a:noFill/>
        </p:spPr>
        <p:txBody>
          <a:bodyPr wrap="square" anchor="t" lIns="0" rIns="0" tIns="0" bIns="0">
            <a:spAutoFit/>
          </a:bodyPr>
          <a:lstStyle/>
          <a:p>
            <a:pPr algn="l">
              <a:lnSpc>
                <a:spcPct val="108000"/>
              </a:lnSpc>
            </a:pPr>
            <a:r>
              <a:rPr sz="900" b="0" i="0">
                <a:solidFill>
                  <a:srgbClr val="8A8A82"/>
                </a:solidFill>
                <a:latin typeface="Calibri"/>
              </a:rPr>
              <a:t>Workflow</a:t>
            </a:r>
          </a:p>
        </p:txBody>
      </p:sp>
      <p:sp>
        <p:nvSpPr>
          <p:cNvPr id="7" name="TextBox 6"/>
          <p:cNvSpPr txBox="1"/>
          <p:nvPr/>
        </p:nvSpPr>
        <p:spPr>
          <a:xfrm>
            <a:off x="11185855" y="6492240"/>
            <a:ext cx="640080" cy="274320"/>
          </a:xfrm>
          <a:prstGeom prst="rect">
            <a:avLst/>
          </a:prstGeom>
          <a:noFill/>
        </p:spPr>
        <p:txBody>
          <a:bodyPr wrap="square" anchor="t" lIns="0" rIns="0" tIns="0" bIns="0">
            <a:spAutoFit/>
          </a:bodyPr>
          <a:lstStyle/>
          <a:p>
            <a:pPr algn="r">
              <a:lnSpc>
                <a:spcPct val="108000"/>
              </a:lnSpc>
            </a:pPr>
            <a:r>
              <a:rPr sz="900" b="0" i="0">
                <a:solidFill>
                  <a:srgbClr val="8A8A82"/>
                </a:solidFill>
                <a:latin typeface="Calibri"/>
              </a:rPr>
              <a:t>5 / 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515600" cy="640080"/>
          </a:xfrm>
          <a:prstGeom prst="rect">
            <a:avLst/>
          </a:prstGeom>
          <a:noFill/>
        </p:spPr>
        <p:txBody>
          <a:bodyPr wrap="square" anchor="t" lIns="0" rIns="0" tIns="0" bIns="0">
            <a:spAutoFit/>
          </a:bodyPr>
          <a:lstStyle/>
          <a:p>
            <a:pPr algn="l">
              <a:lnSpc>
                <a:spcPct val="108000"/>
              </a:lnSpc>
            </a:pPr>
            <a:r>
              <a:rPr sz="2500" b="1" i="0">
                <a:solidFill>
                  <a:srgbClr val="23241F"/>
                </a:solidFill>
                <a:latin typeface="Calibri"/>
              </a:rPr>
              <a:t>Sécurité : rien n'est accessible sans jeton valide</a:t>
            </a:r>
          </a:p>
        </p:txBody>
      </p:sp>
      <p:sp>
        <p:nvSpPr>
          <p:cNvPr id="4" name="Rectangle 3"/>
          <p:cNvSpPr/>
          <p:nvPr/>
        </p:nvSpPr>
        <p:spPr>
          <a:xfrm>
            <a:off x="640080" y="1143000"/>
            <a:ext cx="2926080" cy="45720"/>
          </a:xfrm>
          <a:prstGeom prst="rect">
            <a:avLst/>
          </a:prstGeom>
          <a:solidFill>
            <a:srgbClr val="D62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45920"/>
            <a:ext cx="10607040" cy="4389120"/>
          </a:xfrm>
          <a:prstGeom prst="rect">
            <a:avLst/>
          </a:prstGeom>
          <a:noFill/>
        </p:spPr>
        <p:txBody>
          <a:bodyPr wrap="square" lIns="0" rIns="0" tIns="0" bIns="0">
            <a:spAutoFit/>
          </a:bodyPr>
          <a:lstStyle/>
          <a:p>
            <a:pPr>
              <a:lnSpc>
                <a:spcPct val="112000"/>
              </a:lnSpc>
              <a:spcAft>
                <a:spcPts val="1800"/>
              </a:spcAft>
            </a:pPr>
            <a:r>
              <a:rPr b="1" sz="1600">
                <a:solidFill>
                  <a:srgbClr val="D6286B"/>
                </a:solidFill>
                <a:latin typeface="Calibri"/>
              </a:rPr>
              <a:t>Comptes —  </a:t>
            </a:r>
            <a:r>
              <a:rPr sz="1600">
                <a:solidFill>
                  <a:srgbClr val="23241F"/>
                </a:solidFill>
                <a:latin typeface="Calibri"/>
              </a:rPr>
              <a:t>créés uniquement par un administrateur, pas d'auto-inscription.</a:t>
            </a:r>
          </a:p>
          <a:p>
            <a:pPr>
              <a:lnSpc>
                <a:spcPct val="112000"/>
              </a:lnSpc>
              <a:spcAft>
                <a:spcPts val="1800"/>
              </a:spcAft>
            </a:pPr>
            <a:r>
              <a:rPr b="1" sz="1600">
                <a:solidFill>
                  <a:srgbClr val="D6286B"/>
                </a:solidFill>
                <a:latin typeface="Calibri"/>
              </a:rPr>
              <a:t>Jetons JWT —  </a:t>
            </a:r>
            <a:r>
              <a:rPr sz="1600">
                <a:solidFill>
                  <a:srgbClr val="23241F"/>
                </a:solidFill>
                <a:latin typeface="Calibri"/>
              </a:rPr>
              <a:t>vérifiés par API Gateway avant toute invocation Lambda : une requête non authentifiée ne déclenche ni calcul, ni appel au modèle.</a:t>
            </a:r>
          </a:p>
          <a:p>
            <a:pPr>
              <a:lnSpc>
                <a:spcPct val="112000"/>
              </a:lnSpc>
              <a:spcAft>
                <a:spcPts val="1800"/>
              </a:spcAft>
            </a:pPr>
            <a:r>
              <a:rPr b="1" sz="1600">
                <a:solidFill>
                  <a:srgbClr val="D6286B"/>
                </a:solidFill>
                <a:latin typeface="Calibri"/>
              </a:rPr>
              <a:t>Secrets —  </a:t>
            </a:r>
            <a:r>
              <a:rPr sz="1600">
                <a:solidFill>
                  <a:srgbClr val="23241F"/>
                </a:solidFill>
                <a:latin typeface="Calibri"/>
              </a:rPr>
              <a:t>la clé de l'API Comtrade est chiffrée dans Parameter Store, jamais dans le dépôt.</a:t>
            </a:r>
          </a:p>
          <a:p>
            <a:pPr>
              <a:lnSpc>
                <a:spcPct val="112000"/>
              </a:lnSpc>
              <a:spcAft>
                <a:spcPts val="1800"/>
              </a:spcAft>
            </a:pPr>
            <a:r>
              <a:rPr b="1" sz="1600">
                <a:solidFill>
                  <a:srgbClr val="D6286B"/>
                </a:solidFill>
                <a:latin typeface="Calibri"/>
              </a:rPr>
              <a:t>Permissions —  </a:t>
            </a:r>
            <a:r>
              <a:rPr sz="1600">
                <a:solidFill>
                  <a:srgbClr val="23241F"/>
                </a:solidFill>
                <a:latin typeface="Calibri"/>
              </a:rPr>
              <a:t>chaque fonction a son propre rôle IAM, limité aux ressources qu'elle utilise réellement.</a:t>
            </a:r>
          </a:p>
          <a:p>
            <a:pPr>
              <a:lnSpc>
                <a:spcPct val="112000"/>
              </a:lnSpc>
              <a:spcAft>
                <a:spcPts val="1800"/>
              </a:spcAft>
            </a:pPr>
            <a:r>
              <a:rPr b="1" sz="1600">
                <a:solidFill>
                  <a:srgbClr val="D6286B"/>
                </a:solidFill>
                <a:latin typeface="Calibri"/>
              </a:rPr>
              <a:t>Rapports —  </a:t>
            </a:r>
            <a:r>
              <a:rPr sz="1600">
                <a:solidFill>
                  <a:srgbClr val="23241F"/>
                </a:solidFill>
                <a:latin typeface="Calibri"/>
              </a:rPr>
              <a:t>buckets S3 privés ; téléchargement par URL pré-signée valable 15 minutes.</a:t>
            </a:r>
          </a:p>
        </p:txBody>
      </p:sp>
      <p:sp>
        <p:nvSpPr>
          <p:cNvPr id="6" name="TextBox 5"/>
          <p:cNvSpPr txBox="1"/>
          <p:nvPr/>
        </p:nvSpPr>
        <p:spPr>
          <a:xfrm>
            <a:off x="457200" y="6492240"/>
            <a:ext cx="7315200" cy="274320"/>
          </a:xfrm>
          <a:prstGeom prst="rect">
            <a:avLst/>
          </a:prstGeom>
          <a:noFill/>
        </p:spPr>
        <p:txBody>
          <a:bodyPr wrap="square" anchor="t" lIns="0" rIns="0" tIns="0" bIns="0">
            <a:spAutoFit/>
          </a:bodyPr>
          <a:lstStyle/>
          <a:p>
            <a:pPr algn="l">
              <a:lnSpc>
                <a:spcPct val="108000"/>
              </a:lnSpc>
            </a:pPr>
            <a:r>
              <a:rPr sz="900" b="0" i="0">
                <a:solidFill>
                  <a:srgbClr val="8A8A82"/>
                </a:solidFill>
                <a:latin typeface="Calibri"/>
              </a:rPr>
              <a:t>Sécurité</a:t>
            </a:r>
          </a:p>
        </p:txBody>
      </p:sp>
      <p:sp>
        <p:nvSpPr>
          <p:cNvPr id="7" name="TextBox 6"/>
          <p:cNvSpPr txBox="1"/>
          <p:nvPr/>
        </p:nvSpPr>
        <p:spPr>
          <a:xfrm>
            <a:off x="11185855" y="6492240"/>
            <a:ext cx="640080" cy="274320"/>
          </a:xfrm>
          <a:prstGeom prst="rect">
            <a:avLst/>
          </a:prstGeom>
          <a:noFill/>
        </p:spPr>
        <p:txBody>
          <a:bodyPr wrap="square" anchor="t" lIns="0" rIns="0" tIns="0" bIns="0">
            <a:spAutoFit/>
          </a:bodyPr>
          <a:lstStyle/>
          <a:p>
            <a:pPr algn="r">
              <a:lnSpc>
                <a:spcPct val="108000"/>
              </a:lnSpc>
            </a:pPr>
            <a:r>
              <a:rPr sz="900" b="0" i="0">
                <a:solidFill>
                  <a:srgbClr val="8A8A82"/>
                </a:solidFill>
                <a:latin typeface="Calibri"/>
              </a:rPr>
              <a:t>6 / 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515600" cy="640080"/>
          </a:xfrm>
          <a:prstGeom prst="rect">
            <a:avLst/>
          </a:prstGeom>
          <a:noFill/>
        </p:spPr>
        <p:txBody>
          <a:bodyPr wrap="square" anchor="t" lIns="0" rIns="0" tIns="0" bIns="0">
            <a:spAutoFit/>
          </a:bodyPr>
          <a:lstStyle/>
          <a:p>
            <a:pPr algn="l">
              <a:lnSpc>
                <a:spcPct val="108000"/>
              </a:lnSpc>
            </a:pPr>
            <a:r>
              <a:rPr sz="2500" b="1" i="0">
                <a:solidFill>
                  <a:srgbClr val="23241F"/>
                </a:solidFill>
                <a:latin typeface="Calibri"/>
              </a:rPr>
              <a:t>Utilisation : du tableau de bord au rapport</a:t>
            </a:r>
          </a:p>
        </p:txBody>
      </p:sp>
      <p:sp>
        <p:nvSpPr>
          <p:cNvPr id="4" name="Rectangle 3"/>
          <p:cNvSpPr/>
          <p:nvPr/>
        </p:nvSpPr>
        <p:spPr>
          <a:xfrm>
            <a:off x="640080" y="1143000"/>
            <a:ext cx="2926080" cy="45720"/>
          </a:xfrm>
          <a:prstGeom prst="rect">
            <a:avLst/>
          </a:prstGeom>
          <a:solidFill>
            <a:srgbClr val="D62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30936" y="1837944"/>
            <a:ext cx="566928" cy="566928"/>
          </a:xfrm>
          <a:prstGeom prst="ellipse">
            <a:avLst/>
          </a:prstGeom>
          <a:solidFill>
            <a:srgbClr val="2F6FB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6" name="TextBox 5"/>
          <p:cNvSpPr txBox="1"/>
          <p:nvPr/>
        </p:nvSpPr>
        <p:spPr>
          <a:xfrm>
            <a:off x="1371600" y="1828800"/>
            <a:ext cx="3657600" cy="365760"/>
          </a:xfrm>
          <a:prstGeom prst="rect">
            <a:avLst/>
          </a:prstGeom>
          <a:noFill/>
        </p:spPr>
        <p:txBody>
          <a:bodyPr wrap="square" anchor="t" lIns="0" rIns="0" tIns="0" bIns="0">
            <a:spAutoFit/>
          </a:bodyPr>
          <a:lstStyle/>
          <a:p>
            <a:pPr algn="l">
              <a:lnSpc>
                <a:spcPct val="108000"/>
              </a:lnSpc>
            </a:pPr>
            <a:r>
              <a:rPr sz="1550" b="1" i="0">
                <a:solidFill>
                  <a:srgbClr val="23241F"/>
                </a:solidFill>
                <a:latin typeface="Calibri"/>
              </a:rPr>
              <a:t>Se connecter</a:t>
            </a:r>
          </a:p>
        </p:txBody>
      </p:sp>
      <p:sp>
        <p:nvSpPr>
          <p:cNvPr id="7" name="TextBox 6"/>
          <p:cNvSpPr txBox="1"/>
          <p:nvPr/>
        </p:nvSpPr>
        <p:spPr>
          <a:xfrm>
            <a:off x="1371600" y="2212848"/>
            <a:ext cx="4023360" cy="457200"/>
          </a:xfrm>
          <a:prstGeom prst="rect">
            <a:avLst/>
          </a:prstGeom>
          <a:noFill/>
        </p:spPr>
        <p:txBody>
          <a:bodyPr wrap="square" anchor="t" lIns="0" rIns="0" tIns="0" bIns="0">
            <a:spAutoFit/>
          </a:bodyPr>
          <a:lstStyle/>
          <a:p>
            <a:pPr algn="l">
              <a:lnSpc>
                <a:spcPct val="108000"/>
              </a:lnSpc>
            </a:pPr>
            <a:r>
              <a:rPr sz="1150" b="0" i="0">
                <a:solidFill>
                  <a:srgbClr val="5B5B55"/>
                </a:solidFill>
                <a:latin typeface="Calibri"/>
              </a:rPr>
              <a:t>Compte créé par un administrateur (Cognito).</a:t>
            </a:r>
          </a:p>
        </p:txBody>
      </p:sp>
      <p:cxnSp>
        <p:nvCxnSpPr>
          <p:cNvPr id="8" name="Connector 7"/>
          <p:cNvCxnSpPr/>
          <p:nvPr/>
        </p:nvCxnSpPr>
        <p:spPr>
          <a:xfrm>
            <a:off x="914400" y="2404872"/>
            <a:ext cx="0" cy="329184"/>
          </a:xfrm>
          <a:prstGeom prst="line">
            <a:avLst/>
          </a:prstGeom>
          <a:ln w="19050">
            <a:solidFill>
              <a:srgbClr val="DDDDD6"/>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630936" y="2734056"/>
            <a:ext cx="566928" cy="566928"/>
          </a:xfrm>
          <a:prstGeom prst="ellipse">
            <a:avLst/>
          </a:prstGeom>
          <a:solidFill>
            <a:srgbClr val="7A52D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10" name="TextBox 9"/>
          <p:cNvSpPr txBox="1"/>
          <p:nvPr/>
        </p:nvSpPr>
        <p:spPr>
          <a:xfrm>
            <a:off x="1371600" y="2724912"/>
            <a:ext cx="3657600" cy="365760"/>
          </a:xfrm>
          <a:prstGeom prst="rect">
            <a:avLst/>
          </a:prstGeom>
          <a:noFill/>
        </p:spPr>
        <p:txBody>
          <a:bodyPr wrap="square" anchor="t" lIns="0" rIns="0" tIns="0" bIns="0">
            <a:spAutoFit/>
          </a:bodyPr>
          <a:lstStyle/>
          <a:p>
            <a:pPr algn="l">
              <a:lnSpc>
                <a:spcPct val="108000"/>
              </a:lnSpc>
            </a:pPr>
            <a:r>
              <a:rPr sz="1550" b="1" i="0">
                <a:solidFill>
                  <a:srgbClr val="23241F"/>
                </a:solidFill>
                <a:latin typeface="Calibri"/>
              </a:rPr>
              <a:t>Choisir un filtre</a:t>
            </a:r>
          </a:p>
        </p:txBody>
      </p:sp>
      <p:sp>
        <p:nvSpPr>
          <p:cNvPr id="11" name="TextBox 10"/>
          <p:cNvSpPr txBox="1"/>
          <p:nvPr/>
        </p:nvSpPr>
        <p:spPr>
          <a:xfrm>
            <a:off x="1371600" y="3108960"/>
            <a:ext cx="4023360" cy="457200"/>
          </a:xfrm>
          <a:prstGeom prst="rect">
            <a:avLst/>
          </a:prstGeom>
          <a:noFill/>
        </p:spPr>
        <p:txBody>
          <a:bodyPr wrap="square" anchor="t" lIns="0" rIns="0" tIns="0" bIns="0">
            <a:spAutoFit/>
          </a:bodyPr>
          <a:lstStyle/>
          <a:p>
            <a:pPr algn="l">
              <a:lnSpc>
                <a:spcPct val="108000"/>
              </a:lnSpc>
            </a:pPr>
            <a:r>
              <a:rPr sz="1150" b="0" i="0">
                <a:solidFill>
                  <a:srgbClr val="5B5B55"/>
                </a:solidFill>
                <a:latin typeface="Calibri"/>
              </a:rPr>
              <a:t>Exportateur, produit (code HS), fréquence.</a:t>
            </a:r>
          </a:p>
        </p:txBody>
      </p:sp>
      <p:cxnSp>
        <p:nvCxnSpPr>
          <p:cNvPr id="12" name="Connector 11"/>
          <p:cNvCxnSpPr/>
          <p:nvPr/>
        </p:nvCxnSpPr>
        <p:spPr>
          <a:xfrm>
            <a:off x="914400" y="3300984"/>
            <a:ext cx="0" cy="329184"/>
          </a:xfrm>
          <a:prstGeom prst="line">
            <a:avLst/>
          </a:prstGeom>
          <a:ln w="19050">
            <a:solidFill>
              <a:srgbClr val="DDDDD6"/>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630936" y="3630168"/>
            <a:ext cx="566928" cy="566928"/>
          </a:xfrm>
          <a:prstGeom prst="ellipse">
            <a:avLst/>
          </a:prstGeom>
          <a:solidFill>
            <a:srgbClr val="E883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14" name="TextBox 13"/>
          <p:cNvSpPr txBox="1"/>
          <p:nvPr/>
        </p:nvSpPr>
        <p:spPr>
          <a:xfrm>
            <a:off x="1371600" y="3621024"/>
            <a:ext cx="3657600" cy="365760"/>
          </a:xfrm>
          <a:prstGeom prst="rect">
            <a:avLst/>
          </a:prstGeom>
          <a:noFill/>
        </p:spPr>
        <p:txBody>
          <a:bodyPr wrap="square" anchor="t" lIns="0" rIns="0" tIns="0" bIns="0">
            <a:spAutoFit/>
          </a:bodyPr>
          <a:lstStyle/>
          <a:p>
            <a:pPr algn="l">
              <a:lnSpc>
                <a:spcPct val="108000"/>
              </a:lnSpc>
            </a:pPr>
            <a:r>
              <a:rPr sz="1550" b="1" i="0">
                <a:solidFill>
                  <a:srgbClr val="23241F"/>
                </a:solidFill>
                <a:latin typeface="Calibri"/>
              </a:rPr>
              <a:t>Lire la heatmap</a:t>
            </a:r>
          </a:p>
        </p:txBody>
      </p:sp>
      <p:sp>
        <p:nvSpPr>
          <p:cNvPr id="15" name="TextBox 14"/>
          <p:cNvSpPr txBox="1"/>
          <p:nvPr/>
        </p:nvSpPr>
        <p:spPr>
          <a:xfrm>
            <a:off x="1371600" y="4005072"/>
            <a:ext cx="4023360" cy="457200"/>
          </a:xfrm>
          <a:prstGeom prst="rect">
            <a:avLst/>
          </a:prstGeom>
          <a:noFill/>
        </p:spPr>
        <p:txBody>
          <a:bodyPr wrap="square" anchor="t" lIns="0" rIns="0" tIns="0" bIns="0">
            <a:spAutoFit/>
          </a:bodyPr>
          <a:lstStyle/>
          <a:p>
            <a:pPr algn="l">
              <a:lnSpc>
                <a:spcPct val="108000"/>
              </a:lnSpc>
            </a:pPr>
            <a:r>
              <a:rPr sz="1150" b="0" i="0">
                <a:solidFill>
                  <a:srgbClr val="5B5B55"/>
                </a:solidFill>
                <a:latin typeface="Calibri"/>
              </a:rPr>
              <a:t>Dix partenaires principaux, cellules rouges = anomalies.</a:t>
            </a:r>
          </a:p>
        </p:txBody>
      </p:sp>
      <p:cxnSp>
        <p:nvCxnSpPr>
          <p:cNvPr id="16" name="Connector 15"/>
          <p:cNvCxnSpPr/>
          <p:nvPr/>
        </p:nvCxnSpPr>
        <p:spPr>
          <a:xfrm>
            <a:off x="914400" y="4197096"/>
            <a:ext cx="0" cy="329184"/>
          </a:xfrm>
          <a:prstGeom prst="line">
            <a:avLst/>
          </a:prstGeom>
          <a:ln w="19050">
            <a:solidFill>
              <a:srgbClr val="DDDDD6"/>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630936" y="4526280"/>
            <a:ext cx="566928" cy="566928"/>
          </a:xfrm>
          <a:prstGeom prst="ellipse">
            <a:avLst/>
          </a:prstGeom>
          <a:solidFill>
            <a:srgbClr val="D628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18" name="TextBox 17"/>
          <p:cNvSpPr txBox="1"/>
          <p:nvPr/>
        </p:nvSpPr>
        <p:spPr>
          <a:xfrm>
            <a:off x="1371600" y="4517136"/>
            <a:ext cx="3657600" cy="365760"/>
          </a:xfrm>
          <a:prstGeom prst="rect">
            <a:avLst/>
          </a:prstGeom>
          <a:noFill/>
        </p:spPr>
        <p:txBody>
          <a:bodyPr wrap="square" anchor="t" lIns="0" rIns="0" tIns="0" bIns="0">
            <a:spAutoFit/>
          </a:bodyPr>
          <a:lstStyle/>
          <a:p>
            <a:pPr algn="l">
              <a:lnSpc>
                <a:spcPct val="108000"/>
              </a:lnSpc>
            </a:pPr>
            <a:r>
              <a:rPr sz="1550" b="1" i="0">
                <a:solidFill>
                  <a:srgbClr val="23241F"/>
                </a:solidFill>
                <a:latin typeface="Calibri"/>
              </a:rPr>
              <a:t>Cliquer sur une cellule rouge</a:t>
            </a:r>
          </a:p>
        </p:txBody>
      </p:sp>
      <p:sp>
        <p:nvSpPr>
          <p:cNvPr id="19" name="TextBox 18"/>
          <p:cNvSpPr txBox="1"/>
          <p:nvPr/>
        </p:nvSpPr>
        <p:spPr>
          <a:xfrm>
            <a:off x="1371600" y="4901184"/>
            <a:ext cx="4023360" cy="457200"/>
          </a:xfrm>
          <a:prstGeom prst="rect">
            <a:avLst/>
          </a:prstGeom>
          <a:noFill/>
        </p:spPr>
        <p:txBody>
          <a:bodyPr wrap="square" anchor="t" lIns="0" rIns="0" tIns="0" bIns="0">
            <a:spAutoFit/>
          </a:bodyPr>
          <a:lstStyle/>
          <a:p>
            <a:pPr algn="l">
              <a:lnSpc>
                <a:spcPct val="108000"/>
              </a:lnSpc>
            </a:pPr>
            <a:r>
              <a:rPr sz="1150" b="0" i="0">
                <a:solidFill>
                  <a:srgbClr val="5B5B55"/>
                </a:solidFill>
                <a:latin typeface="Calibri"/>
              </a:rPr>
              <a:t>Génération automatique du rapport.</a:t>
            </a:r>
          </a:p>
        </p:txBody>
      </p:sp>
      <p:cxnSp>
        <p:nvCxnSpPr>
          <p:cNvPr id="20" name="Connector 19"/>
          <p:cNvCxnSpPr/>
          <p:nvPr/>
        </p:nvCxnSpPr>
        <p:spPr>
          <a:xfrm>
            <a:off x="914400" y="5093208"/>
            <a:ext cx="0" cy="329184"/>
          </a:xfrm>
          <a:prstGeom prst="line">
            <a:avLst/>
          </a:prstGeom>
          <a:ln w="19050">
            <a:solidFill>
              <a:srgbClr val="DDDDD6"/>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630936" y="5422392"/>
            <a:ext cx="566928" cy="566928"/>
          </a:xfrm>
          <a:prstGeom prst="ellipse">
            <a:avLst/>
          </a:prstGeom>
          <a:solidFill>
            <a:srgbClr val="1E9E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5</a:t>
            </a:r>
          </a:p>
        </p:txBody>
      </p:sp>
      <p:sp>
        <p:nvSpPr>
          <p:cNvPr id="22" name="TextBox 21"/>
          <p:cNvSpPr txBox="1"/>
          <p:nvPr/>
        </p:nvSpPr>
        <p:spPr>
          <a:xfrm>
            <a:off x="1371600" y="5413248"/>
            <a:ext cx="3657600" cy="365760"/>
          </a:xfrm>
          <a:prstGeom prst="rect">
            <a:avLst/>
          </a:prstGeom>
          <a:noFill/>
        </p:spPr>
        <p:txBody>
          <a:bodyPr wrap="square" anchor="t" lIns="0" rIns="0" tIns="0" bIns="0">
            <a:spAutoFit/>
          </a:bodyPr>
          <a:lstStyle/>
          <a:p>
            <a:pPr algn="l">
              <a:lnSpc>
                <a:spcPct val="108000"/>
              </a:lnSpc>
            </a:pPr>
            <a:r>
              <a:rPr sz="1550" b="1" i="0">
                <a:solidFill>
                  <a:srgbClr val="23241F"/>
                </a:solidFill>
                <a:latin typeface="Calibri"/>
              </a:rPr>
              <a:t>Télécharger le PDF</a:t>
            </a:r>
          </a:p>
        </p:txBody>
      </p:sp>
      <p:sp>
        <p:nvSpPr>
          <p:cNvPr id="23" name="TextBox 22"/>
          <p:cNvSpPr txBox="1"/>
          <p:nvPr/>
        </p:nvSpPr>
        <p:spPr>
          <a:xfrm>
            <a:off x="1371600" y="5797296"/>
            <a:ext cx="4023360" cy="457200"/>
          </a:xfrm>
          <a:prstGeom prst="rect">
            <a:avLst/>
          </a:prstGeom>
          <a:noFill/>
        </p:spPr>
        <p:txBody>
          <a:bodyPr wrap="square" anchor="t" lIns="0" rIns="0" tIns="0" bIns="0">
            <a:spAutoFit/>
          </a:bodyPr>
          <a:lstStyle/>
          <a:p>
            <a:pPr algn="l">
              <a:lnSpc>
                <a:spcPct val="108000"/>
              </a:lnSpc>
            </a:pPr>
            <a:r>
              <a:rPr sz="1150" b="0" i="0">
                <a:solidFill>
                  <a:srgbClr val="5B5B55"/>
                </a:solidFill>
                <a:latin typeface="Calibri"/>
              </a:rPr>
              <a:t>Causes possibles, sources, vraisemblance.</a:t>
            </a:r>
          </a:p>
        </p:txBody>
      </p:sp>
      <p:sp>
        <p:nvSpPr>
          <p:cNvPr id="24" name="Rounded Rectangle 23"/>
          <p:cNvSpPr/>
          <p:nvPr/>
        </p:nvSpPr>
        <p:spPr>
          <a:xfrm>
            <a:off x="5943600" y="1828800"/>
            <a:ext cx="5577840" cy="4023360"/>
          </a:xfrm>
          <a:prstGeom prst="roundRect">
            <a:avLst>
              <a:gd name="adj" fmla="val 6000"/>
            </a:avLst>
          </a:prstGeom>
          <a:solidFill>
            <a:srgbClr val="F6F6F2"/>
          </a:solidFill>
          <a:ln w="9525">
            <a:solidFill>
              <a:srgbClr val="DDDD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9360" y="2103120"/>
            <a:ext cx="4937760" cy="457200"/>
          </a:xfrm>
          <a:prstGeom prst="rect">
            <a:avLst/>
          </a:prstGeom>
          <a:noFill/>
        </p:spPr>
        <p:txBody>
          <a:bodyPr wrap="square" anchor="t" lIns="0" rIns="0" tIns="0" bIns="0">
            <a:spAutoFit/>
          </a:bodyPr>
          <a:lstStyle/>
          <a:p>
            <a:pPr algn="l">
              <a:lnSpc>
                <a:spcPct val="108000"/>
              </a:lnSpc>
            </a:pPr>
            <a:r>
              <a:rPr sz="1450" b="1" i="0">
                <a:solidFill>
                  <a:srgbClr val="23241F"/>
                </a:solidFill>
                <a:latin typeface="Calibri"/>
              </a:rPr>
              <a:t>Le rapport PDF contient</a:t>
            </a:r>
          </a:p>
        </p:txBody>
      </p:sp>
      <p:sp>
        <p:nvSpPr>
          <p:cNvPr id="26" name="TextBox 25"/>
          <p:cNvSpPr txBox="1"/>
          <p:nvPr/>
        </p:nvSpPr>
        <p:spPr>
          <a:xfrm>
            <a:off x="6309360" y="2651760"/>
            <a:ext cx="4937760" cy="3017520"/>
          </a:xfrm>
          <a:prstGeom prst="rect">
            <a:avLst/>
          </a:prstGeom>
          <a:noFill/>
        </p:spPr>
        <p:txBody>
          <a:bodyPr wrap="square" lIns="0" rIns="0" tIns="0" bIns="0">
            <a:spAutoFit/>
          </a:bodyPr>
          <a:lstStyle/>
          <a:p>
            <a:pPr>
              <a:lnSpc>
                <a:spcPct val="112000"/>
              </a:lnSpc>
              <a:spcAft>
                <a:spcPts val="1400"/>
              </a:spcAft>
            </a:pPr>
            <a:r>
              <a:rPr sz="1300">
                <a:solidFill>
                  <a:srgbClr val="23241F"/>
                </a:solidFill>
                <a:latin typeface="Calibri"/>
              </a:rPr>
              <a:t>Un résumé et les valeurs FOB / CIF de la cellule</a:t>
            </a:r>
          </a:p>
          <a:p>
            <a:pPr>
              <a:lnSpc>
                <a:spcPct val="112000"/>
              </a:lnSpc>
              <a:spcAft>
                <a:spcPts val="1400"/>
              </a:spcAft>
            </a:pPr>
            <a:r>
              <a:rPr sz="1300">
                <a:solidFill>
                  <a:srgbClr val="23241F"/>
                </a:solidFill>
                <a:latin typeface="Calibri"/>
              </a:rPr>
              <a:t>Les hypothèses de cause, avec leur vraisemblance</a:t>
            </a:r>
          </a:p>
          <a:p>
            <a:pPr>
              <a:lnSpc>
                <a:spcPct val="112000"/>
              </a:lnSpc>
              <a:spcAft>
                <a:spcPts val="1400"/>
              </a:spcAft>
            </a:pPr>
            <a:r>
              <a:rPr sz="1300">
                <a:solidFill>
                  <a:srgbClr val="23241F"/>
                </a:solidFill>
                <a:latin typeface="Calibri"/>
              </a:rPr>
              <a:t>Des vérifications suggérées</a:t>
            </a:r>
          </a:p>
          <a:p>
            <a:pPr>
              <a:lnSpc>
                <a:spcPct val="112000"/>
              </a:lnSpc>
              <a:spcAft>
                <a:spcPts val="1400"/>
              </a:spcAft>
            </a:pPr>
            <a:r>
              <a:rPr sz="1300">
                <a:solidFill>
                  <a:srgbClr val="23241F"/>
                </a:solidFill>
                <a:latin typeface="Calibri"/>
              </a:rPr>
              <a:t>Les sources citées (données Comtrade, pages Wikipédia)</a:t>
            </a:r>
          </a:p>
          <a:p>
            <a:pPr>
              <a:lnSpc>
                <a:spcPct val="112000"/>
              </a:lnSpc>
              <a:spcAft>
                <a:spcPts val="1400"/>
              </a:spcAft>
            </a:pPr>
            <a:r>
              <a:rPr sz="1300">
                <a:solidFill>
                  <a:srgbClr val="23241F"/>
                </a:solidFill>
                <a:latin typeface="Calibri"/>
              </a:rPr>
              <a:t>Un avertissement : causes possibles, à vérifier avant décision</a:t>
            </a:r>
          </a:p>
        </p:txBody>
      </p:sp>
      <p:sp>
        <p:nvSpPr>
          <p:cNvPr id="27" name="TextBox 26"/>
          <p:cNvSpPr txBox="1"/>
          <p:nvPr/>
        </p:nvSpPr>
        <p:spPr>
          <a:xfrm>
            <a:off x="457200" y="6492240"/>
            <a:ext cx="7315200" cy="274320"/>
          </a:xfrm>
          <a:prstGeom prst="rect">
            <a:avLst/>
          </a:prstGeom>
          <a:noFill/>
        </p:spPr>
        <p:txBody>
          <a:bodyPr wrap="square" anchor="t" lIns="0" rIns="0" tIns="0" bIns="0">
            <a:spAutoFit/>
          </a:bodyPr>
          <a:lstStyle/>
          <a:p>
            <a:pPr algn="l">
              <a:lnSpc>
                <a:spcPct val="108000"/>
              </a:lnSpc>
            </a:pPr>
            <a:r>
              <a:rPr sz="900" b="0" i="0">
                <a:solidFill>
                  <a:srgbClr val="8A8A82"/>
                </a:solidFill>
                <a:latin typeface="Calibri"/>
              </a:rPr>
              <a:t>Manuel d'utilisation</a:t>
            </a:r>
          </a:p>
        </p:txBody>
      </p:sp>
      <p:sp>
        <p:nvSpPr>
          <p:cNvPr id="28" name="TextBox 27"/>
          <p:cNvSpPr txBox="1"/>
          <p:nvPr/>
        </p:nvSpPr>
        <p:spPr>
          <a:xfrm>
            <a:off x="11185855" y="6492240"/>
            <a:ext cx="640080" cy="274320"/>
          </a:xfrm>
          <a:prstGeom prst="rect">
            <a:avLst/>
          </a:prstGeom>
          <a:noFill/>
        </p:spPr>
        <p:txBody>
          <a:bodyPr wrap="square" anchor="t" lIns="0" rIns="0" tIns="0" bIns="0">
            <a:spAutoFit/>
          </a:bodyPr>
          <a:lstStyle/>
          <a:p>
            <a:pPr algn="r">
              <a:lnSpc>
                <a:spcPct val="108000"/>
              </a:lnSpc>
            </a:pPr>
            <a:r>
              <a:rPr sz="900" b="0" i="0">
                <a:solidFill>
                  <a:srgbClr val="8A8A82"/>
                </a:solidFill>
                <a:latin typeface="Calibri"/>
              </a:rPr>
              <a:t>7 / 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32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D62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48640"/>
            <a:ext cx="10058400" cy="640080"/>
          </a:xfrm>
          <a:prstGeom prst="rect">
            <a:avLst/>
          </a:prstGeom>
          <a:noFill/>
        </p:spPr>
        <p:txBody>
          <a:bodyPr wrap="square" anchor="t" lIns="0" rIns="0" tIns="0" bIns="0">
            <a:spAutoFit/>
          </a:bodyPr>
          <a:lstStyle/>
          <a:p>
            <a:pPr algn="l">
              <a:lnSpc>
                <a:spcPct val="108000"/>
              </a:lnSpc>
            </a:pPr>
            <a:r>
              <a:rPr sz="2800" b="1" i="0">
                <a:solidFill>
                  <a:srgbClr val="FFFFFF"/>
                </a:solidFill>
                <a:latin typeface="Calibri"/>
              </a:rPr>
              <a:t>Limites et conclusion</a:t>
            </a:r>
          </a:p>
        </p:txBody>
      </p:sp>
      <p:sp>
        <p:nvSpPr>
          <p:cNvPr id="5" name="TextBox 4"/>
          <p:cNvSpPr txBox="1"/>
          <p:nvPr/>
        </p:nvSpPr>
        <p:spPr>
          <a:xfrm>
            <a:off x="868680" y="1463040"/>
            <a:ext cx="10332720" cy="3291840"/>
          </a:xfrm>
          <a:prstGeom prst="rect">
            <a:avLst/>
          </a:prstGeom>
          <a:noFill/>
        </p:spPr>
        <p:txBody>
          <a:bodyPr wrap="square" lIns="0" rIns="0" tIns="0" bIns="0">
            <a:spAutoFit/>
          </a:bodyPr>
          <a:lstStyle/>
          <a:p>
            <a:pPr>
              <a:lnSpc>
                <a:spcPct val="112000"/>
              </a:lnSpc>
              <a:spcAft>
                <a:spcPts val="1400"/>
              </a:spcAft>
            </a:pPr>
            <a:r>
              <a:rPr b="1" sz="1500">
                <a:solidFill>
                  <a:srgbClr val="F08FB3"/>
                </a:solidFill>
                <a:latin typeface="Calibri"/>
              </a:rPr>
              <a:t>Durée du rechargement —  </a:t>
            </a:r>
            <a:r>
              <a:rPr sz="1500">
                <a:solidFill>
                  <a:srgbClr val="DDDDD6"/>
                </a:solidFill>
                <a:latin typeface="Calibri"/>
              </a:rPr>
              <a:t>bornée par les 15 minutes d'une Lambda ; découpage par année prévu au-delà.</a:t>
            </a:r>
          </a:p>
          <a:p>
            <a:pPr>
              <a:lnSpc>
                <a:spcPct val="112000"/>
              </a:lnSpc>
              <a:spcAft>
                <a:spcPts val="1400"/>
              </a:spcAft>
            </a:pPr>
            <a:r>
              <a:rPr b="1" sz="1500">
                <a:solidFill>
                  <a:srgbClr val="F08FB3"/>
                </a:solidFill>
                <a:latin typeface="Calibri"/>
              </a:rPr>
              <a:t>Pas de modèle de repli —  </a:t>
            </a:r>
            <a:r>
              <a:rPr sz="1500">
                <a:solidFill>
                  <a:srgbClr val="DDDDD6"/>
                </a:solidFill>
                <a:latin typeface="Calibri"/>
              </a:rPr>
              <a:t>un refus de Bedrock fait échouer le rapport, de façon visible et relançable.</a:t>
            </a:r>
          </a:p>
          <a:p>
            <a:pPr>
              <a:lnSpc>
                <a:spcPct val="112000"/>
              </a:lnSpc>
              <a:spcAft>
                <a:spcPts val="1400"/>
              </a:spcAft>
            </a:pPr>
            <a:r>
              <a:rPr b="1" sz="1500">
                <a:solidFill>
                  <a:srgbClr val="F08FB3"/>
                </a:solidFill>
                <a:latin typeface="Calibri"/>
              </a:rPr>
              <a:t>Un seul niveau d'autorisation —  </a:t>
            </a:r>
            <a:r>
              <a:rPr sz="1500">
                <a:solidFill>
                  <a:srgbClr val="DDDDD6"/>
                </a:solidFill>
                <a:latin typeface="Calibri"/>
              </a:rPr>
              <a:t>tous les comptes ont aujourd'hui les mêmes droits.</a:t>
            </a:r>
          </a:p>
          <a:p>
            <a:pPr>
              <a:lnSpc>
                <a:spcPct val="112000"/>
              </a:lnSpc>
              <a:spcAft>
                <a:spcPts val="1400"/>
              </a:spcAft>
            </a:pPr>
            <a:r>
              <a:rPr b="1" sz="1500">
                <a:solidFill>
                  <a:srgbClr val="F08FB3"/>
                </a:solidFill>
                <a:latin typeface="Calibri"/>
              </a:rPr>
              <a:t>Fiabilité du contenu —  </a:t>
            </a:r>
            <a:r>
              <a:rPr sz="1500">
                <a:solidFill>
                  <a:srgbClr val="DDDDD6"/>
                </a:solidFill>
                <a:latin typeface="Calibri"/>
              </a:rPr>
              <a:t>le rapport propose des causes possibles, pas une vérité à prendre telle quelle.</a:t>
            </a:r>
          </a:p>
        </p:txBody>
      </p:sp>
      <p:sp>
        <p:nvSpPr>
          <p:cNvPr id="6" name="Rectangle 5"/>
          <p:cNvSpPr/>
          <p:nvPr/>
        </p:nvSpPr>
        <p:spPr>
          <a:xfrm>
            <a:off x="822960" y="5120640"/>
            <a:ext cx="10332720" cy="18288"/>
          </a:xfrm>
          <a:prstGeom prst="rect">
            <a:avLst/>
          </a:prstGeom>
          <a:solidFill>
            <a:srgbClr val="454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349240"/>
            <a:ext cx="10332720" cy="914400"/>
          </a:xfrm>
          <a:prstGeom prst="rect">
            <a:avLst/>
          </a:prstGeom>
          <a:noFill/>
        </p:spPr>
        <p:txBody>
          <a:bodyPr wrap="square" anchor="t" lIns="0" rIns="0" tIns="0" bIns="0">
            <a:spAutoFit/>
          </a:bodyPr>
          <a:lstStyle/>
          <a:p>
            <a:pPr algn="l">
              <a:lnSpc>
                <a:spcPct val="108000"/>
              </a:lnSpc>
            </a:pPr>
            <a:r>
              <a:rPr sz="1500" b="0" i="1">
                <a:solidFill>
                  <a:srgbClr val="FFFFFF"/>
                </a:solidFill>
                <a:latin typeface="Calibri"/>
              </a:rPr>
              <a:t>Une architecture serverless, proportionnée à une charge faible et irrégulière, qui automatise un travail d'investigation sans jamais remplacer le jugement de l'analyste.</a:t>
            </a:r>
          </a:p>
        </p:txBody>
      </p:sp>
      <p:sp>
        <p:nvSpPr>
          <p:cNvPr id="8" name="TextBox 7"/>
          <p:cNvSpPr txBox="1"/>
          <p:nvPr/>
        </p:nvSpPr>
        <p:spPr>
          <a:xfrm>
            <a:off x="457200" y="6492240"/>
            <a:ext cx="7315200" cy="274320"/>
          </a:xfrm>
          <a:prstGeom prst="rect">
            <a:avLst/>
          </a:prstGeom>
          <a:noFill/>
        </p:spPr>
        <p:txBody>
          <a:bodyPr wrap="square" anchor="t" lIns="0" rIns="0" tIns="0" bIns="0">
            <a:spAutoFit/>
          </a:bodyPr>
          <a:lstStyle/>
          <a:p>
            <a:pPr algn="l">
              <a:lnSpc>
                <a:spcPct val="108000"/>
              </a:lnSpc>
            </a:pPr>
            <a:r>
              <a:rPr sz="900" b="0" i="0">
                <a:solidFill>
                  <a:srgbClr val="8A8A82"/>
                </a:solidFill>
                <a:latin typeface="Calibri"/>
              </a:rPr>
              <a:t>Conclusion</a:t>
            </a:r>
          </a:p>
        </p:txBody>
      </p:sp>
      <p:sp>
        <p:nvSpPr>
          <p:cNvPr id="9" name="TextBox 8"/>
          <p:cNvSpPr txBox="1"/>
          <p:nvPr/>
        </p:nvSpPr>
        <p:spPr>
          <a:xfrm>
            <a:off x="11185855" y="6492240"/>
            <a:ext cx="640080" cy="274320"/>
          </a:xfrm>
          <a:prstGeom prst="rect">
            <a:avLst/>
          </a:prstGeom>
          <a:noFill/>
        </p:spPr>
        <p:txBody>
          <a:bodyPr wrap="square" anchor="t" lIns="0" rIns="0" tIns="0" bIns="0">
            <a:spAutoFit/>
          </a:bodyPr>
          <a:lstStyle/>
          <a:p>
            <a:pPr algn="r">
              <a:lnSpc>
                <a:spcPct val="108000"/>
              </a:lnSpc>
            </a:pPr>
            <a:r>
              <a:rPr sz="900" b="0" i="0">
                <a:solidFill>
                  <a:srgbClr val="8A8A82"/>
                </a:solidFill>
                <a:latin typeface="Calibri"/>
              </a:rPr>
              <a:t>8 / 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